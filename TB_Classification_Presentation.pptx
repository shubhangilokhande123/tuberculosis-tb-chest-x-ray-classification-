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Tuberculosis (TB) Chest X-ray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Comparing Training from Scratch vs Transfer Learning</a:t>
            </a:r>
          </a:p>
          <a:p>
            <a:r>
              <a:t>Custom CNN, ResNet50, DenseNet121, EfficientNet-B0, ViT-B/16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Tuberculosis is a top 10 cause of death worldwide.</a:t>
            </a:r>
          </a:p>
          <a:p>
            <a:r>
              <a:t>Early, accurate detection via chest X-ray is critical, especially in resource-limited settings.</a:t>
            </a:r>
          </a:p>
          <a:p>
            <a:r>
              <a:t>This project aims to automate binary classification: Normal vs Tuberculosis.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training deep learning models from scratch against transfer learning approaches.</a:t>
            </a:r>
          </a:p>
          <a:p>
            <a:r>
              <a:t>Evaluate five distinct architectures: Custom CNN, ResNet50, DenseNet121, EfficientNet-B0, ViT-B/16.</a:t>
            </a:r>
          </a:p>
          <a:p>
            <a:r>
              <a:t>Primary clinical focus: TB Recall (Sensitivity) to minimize false negatives.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Kaggle Tuberculosis (TB) Chest X-ray Dataset.</a:t>
            </a:r>
          </a:p>
          <a:p>
            <a:r>
              <a:t>~4,200 images total (~3,500 Normal, ~700 TB) - class imbalance addressed.</a:t>
            </a:r>
          </a:p>
          <a:p>
            <a:r>
              <a:t>Images resized to 224x224.</a:t>
            </a:r>
          </a:p>
          <a:p>
            <a:r>
              <a:t>Data Augmentation: Random horizontal flips, rotation, color jitter, affine translations.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Splits: 70% Train, 15% Validation, 15% Test.</a:t>
            </a:r>
          </a:p>
          <a:p>
            <a:r>
              <a:t>Baseline: 4-block Custom CNN trained from scratch.</a:t>
            </a:r>
          </a:p>
          <a:p>
            <a:r>
              <a:t>Transfer Learning Models: ResNet50, DenseNet121, EfficientNet-B0, ViT-B/16 pre-trained on ImageNet.</a:t>
            </a:r>
          </a:p>
          <a:p>
            <a:r>
              <a:t>Differential Learning Rates used for transfer learning: low LR for backbone, higher LR for 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CNN: Local receptive field, builds context hierarchically.</a:t>
            </a:r>
          </a:p>
          <a:p>
            <a:r>
              <a:t>DenseNet121: Dense feature reuse suited to medical imaging.</a:t>
            </a:r>
          </a:p>
          <a:p>
            <a:r>
              <a:t>EfficientNet-B0: Efficient compound-scaled CNN.</a:t>
            </a:r>
          </a:p>
          <a:p>
            <a:r>
              <a:t>ViT-B/16 (Vision Transformer): Global receptive field from layer 1 via patch-based self-attention.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 CNN: ~88% Acc, 0.928 AUC, ~73% TB Recall</a:t>
            </a:r>
          </a:p>
          <a:p>
            <a:r>
              <a:t>ResNet50: ~96.8% Acc, 0.993 AUC, ~91.4% TB Recall</a:t>
            </a:r>
          </a:p>
          <a:p>
            <a:r>
              <a:t>DenseNet121: ~97.6% Acc, 0.996 AUC, ~93.3% TB Recall</a:t>
            </a:r>
          </a:p>
          <a:p>
            <a:r>
              <a:t>EfficientNet-B0: ~97.9% Acc, 0.997 AUC, ~95.2% TB Recall</a:t>
            </a:r>
          </a:p>
          <a:p>
            <a:r>
              <a:t>ViT-B/16: ~98.6% Acc, 0.999 AUC, ~96.2% TB Recall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learning dramatically outperforms training from scratch.</a:t>
            </a:r>
          </a:p>
          <a:p>
            <a:r>
              <a:t>ImageNet pre-training covers the requirement for massive data.</a:t>
            </a:r>
          </a:p>
          <a:p>
            <a:r>
              <a:t>ViT-B/16 achieves the highest accuracy, AUC-ROC, and crucial TB Recall, making it ideal for clinical screening.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 Transformers excel in medical image classification tasks due to their global long-range dependencies.</a:t>
            </a:r>
          </a:p>
          <a:p>
            <a:r>
              <a:t>Deployment Recommendations: ViT-B/16 for maximum accuracy; EfficientNet-B0 for constrained compute.</a:t>
            </a:r>
          </a:p>
          <a:p>
            <a:r>
              <a:t>Future Work: Incorporate Attention Rollout/Grad-CAM for interpretability and SMOTE for class imbalance.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Dosovitskiy, A., et al. (2020). An Image is Worth 16x16 Words.</a:t>
            </a:r>
          </a:p>
          <a:p>
            <a:r>
              <a:t>He, K., et al. (2015). Deep Residual Learning for Image Recognition.</a:t>
            </a:r>
          </a:p>
          <a:p>
            <a:r>
              <a:t>Huang, G., et al. (2016). Densely Connected Convolutional Networks.</a:t>
            </a:r>
          </a:p>
          <a:p>
            <a:r>
              <a:t>Tan, M. &amp; Le, Q. (2019). EfficientNet: Rethinking Model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